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0287000" cx="18288000"/>
  <p:notesSz cx="7559675" cy="10691800"/>
  <p:embeddedFontLst>
    <p:embeddedFont>
      <p:font typeface="Space Mono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SpaceMono-boldItalic.fntdata"/><Relationship Id="rId12" Type="http://schemas.openxmlformats.org/officeDocument/2006/relationships/font" Target="fonts/SpaceMon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github.com/cabooster/DeepCAD/tree/master/DeepCAD_pytorch/datasets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0"/>
            <a:ext cx="188823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0" y="0"/>
            <a:ext cx="3524400" cy="1501200"/>
          </a:xfrm>
          <a:custGeom>
            <a:rect b="b" l="l" r="r" t="t"/>
            <a:pathLst>
              <a:path extrusionOk="0" h="1501584" w="3524878">
                <a:moveTo>
                  <a:pt x="0" y="0"/>
                </a:moveTo>
                <a:lnTo>
                  <a:pt x="3524878" y="0"/>
                </a:lnTo>
                <a:lnTo>
                  <a:pt x="3524878" y="1501584"/>
                </a:lnTo>
                <a:lnTo>
                  <a:pt x="0" y="15015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3482280" y="7326000"/>
            <a:ext cx="11322720" cy="9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b="0" sz="549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0607745" y="8536680"/>
            <a:ext cx="70854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Gorea Sabin-Gabriel</a:t>
            </a:r>
            <a:endParaRPr b="1" sz="4290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ctr">
              <a:lnSpc>
                <a:spcPct val="14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Lionte Eduard-Iulian</a:t>
            </a:r>
            <a:endParaRPr b="1" sz="4290">
              <a:solidFill>
                <a:srgbClr val="FFFFFF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84" name="Google Shape;8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32042" y="-101600"/>
            <a:ext cx="2968298" cy="109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1009800"/>
            <a:ext cx="1101132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1. Context &amp; Motivație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571680" y="2242800"/>
            <a:ext cx="17203200" cy="77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Context: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Imagistica bazata pe Calciu este puternic afectata 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de zgomot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 din cauza interferențelor cat si ale mișcării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Motivație: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Folosind imagistica bazata pe calciu se poate masura activitatea neuronala tridimensionala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Obiectivul proiectului:</a:t>
            </a:r>
            <a:r>
              <a:rPr b="0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Eliminare zgomotului si a artefactelor de miscare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b="0" sz="6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2. Arhitectura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71680" y="2242800"/>
            <a:ext cx="17203320" cy="78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20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b="1" lang="en-US" sz="3400">
                <a:latin typeface="Space Mono"/>
                <a:ea typeface="Space Mono"/>
                <a:cs typeface="Space Mono"/>
                <a:sym typeface="Space Mono"/>
              </a:rPr>
              <a:t>Descrierea componentelor: </a:t>
            </a: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Modelul este o rețea neuronală convoluțională (CNN), structurată într-o formă tipică de encoder–decoder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-367200" lvl="1" marL="734039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SzPts val="3400"/>
              <a:buFont typeface="Space Mono"/>
              <a:buChar char="•"/>
            </a:pPr>
            <a:r>
              <a:rPr lang="en-US" sz="3400">
                <a:latin typeface="Space Mono"/>
                <a:ea typeface="Space Mono"/>
                <a:cs typeface="Space Mono"/>
                <a:sym typeface="Space Mono"/>
              </a:rPr>
              <a:t>Arhitectura: </a:t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title="Arhitect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7555" y="5004830"/>
            <a:ext cx="15364949" cy="47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3. Evaluarea Preliminară a Soluției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571680" y="2242800"/>
            <a:ext cx="17203320" cy="799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26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Metodologia de evaluare: </a:t>
            </a:r>
            <a:r>
              <a:rPr lang="en-US" sz="3800">
                <a:latin typeface="Space Mono"/>
                <a:ea typeface="Space Mono"/>
                <a:cs typeface="Space Mono"/>
                <a:sym typeface="Space Mono"/>
              </a:rPr>
              <a:t>Functia de pierdere si SNR (Signal to noise ratio)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26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Setul de date:</a:t>
            </a:r>
            <a:r>
              <a:rPr b="1" lang="en-US" sz="3800" u="sng">
                <a:solidFill>
                  <a:schemeClr val="hlink"/>
                </a:solidFill>
                <a:latin typeface="Space Mono"/>
                <a:ea typeface="Space Mono"/>
                <a:cs typeface="Space Mono"/>
                <a:sym typeface="Space Mono"/>
                <a:hlinkClick r:id="rId4"/>
              </a:rPr>
              <a:t>Set date</a:t>
            </a:r>
            <a:r>
              <a:rPr b="0" i="0" lang="en-US" sz="38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. L-am folosit deoarece </a:t>
            </a:r>
            <a:r>
              <a:rPr lang="en-US" sz="3800">
                <a:latin typeface="Space Mono"/>
                <a:ea typeface="Space Mono"/>
                <a:cs typeface="Space Mono"/>
                <a:sym typeface="Space Mono"/>
              </a:rPr>
              <a:t>este folosita de DeepCad, cea mai citata lucrare din domeniu si are 6000 de slide-uri, fata de alte seturi de date (cu 1500)</a:t>
            </a:r>
            <a:endParaRPr sz="3800">
              <a:latin typeface="Space Mono"/>
              <a:ea typeface="Space Mono"/>
              <a:cs typeface="Space Mono"/>
              <a:sym typeface="Space Mono"/>
            </a:endParaRPr>
          </a:p>
          <a:p>
            <a:pPr indent="-3926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Char char="•"/>
            </a:pPr>
            <a:r>
              <a:rPr b="1" i="0" lang="en-US" sz="38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Exemple de cazuri de test:</a:t>
            </a:r>
            <a:r>
              <a:rPr b="0" i="0" lang="en-US" sz="38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3800">
                <a:latin typeface="Space Mono"/>
                <a:ea typeface="Space Mono"/>
                <a:cs typeface="Space Mono"/>
                <a:sym typeface="Space Mono"/>
              </a:rPr>
              <a:t>Am creat un script pentru a calcula SNR-ul inainte si dupa antrenare</a:t>
            </a:r>
            <a:br>
              <a:rPr lang="en-US" sz="3800">
                <a:latin typeface="Space Mono"/>
                <a:ea typeface="Space Mono"/>
                <a:cs typeface="Space Mono"/>
                <a:sym typeface="Space Mono"/>
              </a:rPr>
            </a:br>
            <a:endParaRPr sz="38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1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900" u="none" strike="noStrike">
                <a:solidFill>
                  <a:srgbClr val="FF0000"/>
                </a:solidFill>
                <a:latin typeface="Space Mono"/>
                <a:ea typeface="Space Mono"/>
                <a:cs typeface="Space Mono"/>
                <a:sym typeface="Space Mono"/>
              </a:rPr>
              <a:t>Scopul acestui slide este de a arăta că ați început să evaluați soluția propusă. Specificați metodologia și metricile folosite pentru a măsura performanța soluției, și oferiți detalii despre datele folosite în evaluare.</a:t>
            </a:r>
            <a:endParaRPr b="0" sz="2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4. Rezultate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72943" y="2158975"/>
            <a:ext cx="17203200" cy="7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71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Char char="•"/>
            </a:pPr>
            <a:r>
              <a:rPr b="1" i="0" lang="en-US" sz="34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Rezultate obținute: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4572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0" marR="0" rtl="0" algn="just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9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title="nois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50" y="3686825"/>
            <a:ext cx="8958646" cy="59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title="denoise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6400" y="3686815"/>
            <a:ext cx="8875775" cy="59997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2149075" y="3243475"/>
            <a:ext cx="1247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29" name="Google Shape;129;p17"/>
          <p:cNvSpPr/>
          <p:nvPr/>
        </p:nvSpPr>
        <p:spPr>
          <a:xfrm>
            <a:off x="2755950" y="2848725"/>
            <a:ext cx="42876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Intrare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3065425" y="2848725"/>
            <a:ext cx="42876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Iesire</a:t>
            </a:r>
            <a:endParaRPr b="0" sz="3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5. Concluzii Preliminare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680" y="2242800"/>
            <a:ext cx="17203320" cy="743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99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Rezumatul progresului: </a:t>
            </a:r>
            <a:r>
              <a:rPr lang="en-US" sz="3600">
                <a:latin typeface="Space Mono"/>
                <a:ea typeface="Space Mono"/>
                <a:cs typeface="Space Mono"/>
                <a:sym typeface="Space Mono"/>
              </a:rPr>
              <a:t>Am reusit sa dublam valoarea SNR-ului </a:t>
            </a:r>
            <a:endParaRPr sz="36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4572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Space Mono"/>
                <a:ea typeface="Space Mono"/>
                <a:cs typeface="Space Mono"/>
                <a:sym typeface="Space Mono"/>
              </a:rPr>
              <a:t>SNR pentru intrare: 25.45 dB</a:t>
            </a:r>
            <a:endParaRPr sz="36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4572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Space Mono"/>
                <a:ea typeface="Space Mono"/>
                <a:cs typeface="Space Mono"/>
                <a:sym typeface="Space Mono"/>
              </a:rPr>
              <a:t>SNR pentru resultat: 43.51 dB</a:t>
            </a:r>
            <a:endParaRPr sz="3600">
              <a:latin typeface="Space Mono"/>
              <a:ea typeface="Space Mono"/>
              <a:cs typeface="Space Mono"/>
              <a:sym typeface="Space Mono"/>
            </a:endParaRPr>
          </a:p>
          <a:p>
            <a:pPr indent="-37990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Limitările soluției actuale</a:t>
            </a:r>
            <a:r>
              <a:rPr b="1" lang="en-US" sz="3600">
                <a:latin typeface="Space Mono"/>
                <a:ea typeface="Space Mono"/>
                <a:cs typeface="Space Mono"/>
                <a:sym typeface="Space Mono"/>
              </a:rPr>
              <a:t>: </a:t>
            </a:r>
            <a:r>
              <a:rPr lang="en-US" sz="3600">
                <a:latin typeface="Space Mono"/>
                <a:ea typeface="Space Mono"/>
                <a:cs typeface="Space Mono"/>
                <a:sym typeface="Space Mono"/>
              </a:rPr>
              <a:t>Procesarea se face la nivel 2d iar reteaua are foarte putine straturi</a:t>
            </a:r>
            <a:endParaRPr sz="3600">
              <a:latin typeface="Space Mono"/>
              <a:ea typeface="Space Mono"/>
              <a:cs typeface="Space Mono"/>
              <a:sym typeface="Space Mono"/>
            </a:endParaRPr>
          </a:p>
          <a:p>
            <a:pPr indent="-37989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Potențiale îmbunătățiri: </a:t>
            </a:r>
            <a:r>
              <a:rPr lang="en-US" sz="3600">
                <a:latin typeface="Space Mono"/>
                <a:ea typeface="Space Mono"/>
                <a:cs typeface="Space Mono"/>
                <a:sym typeface="Space Mono"/>
              </a:rPr>
              <a:t>Trecerea de la o retea Unet simpla la o retea de tip Unet 3d si marirea numarului de straturi ascunse ale retelei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6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61560" y="0"/>
            <a:ext cx="2255400" cy="960480"/>
          </a:xfrm>
          <a:custGeom>
            <a:rect b="b" l="l" r="r" t="t"/>
            <a:pathLst>
              <a:path extrusionOk="0" h="960936" w="2255738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0" y="-44280"/>
            <a:ext cx="18287640" cy="111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500">
                <a:solidFill>
                  <a:srgbClr val="1C375A"/>
                </a:solidFill>
                <a:latin typeface="Space Mono"/>
                <a:ea typeface="Space Mono"/>
                <a:cs typeface="Space Mono"/>
                <a:sym typeface="Space Mono"/>
              </a:rPr>
              <a:t>Calcium Image Denoising</a:t>
            </a:r>
            <a:endParaRPr sz="65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500">
              <a:solidFill>
                <a:srgbClr val="1C375A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A6B5C2"/>
                </a:solidFill>
                <a:latin typeface="Space Mono"/>
                <a:ea typeface="Space Mono"/>
                <a:cs typeface="Space Mono"/>
                <a:sym typeface="Space Mono"/>
              </a:rPr>
              <a:t>Prelucrarea Imaginilor - Proiect, 2025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strike="noStrike">
                <a:solidFill>
                  <a:srgbClr val="2E5375"/>
                </a:solidFill>
                <a:latin typeface="Space Mono"/>
                <a:ea typeface="Space Mono"/>
                <a:cs typeface="Space Mono"/>
                <a:sym typeface="Space Mono"/>
              </a:rPr>
              <a:t>6. Direcții Viitoare</a:t>
            </a:r>
            <a:endParaRPr b="0" sz="6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71680" y="2242800"/>
            <a:ext cx="17203320" cy="73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849" lvl="1" marL="73404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Pași următori:</a:t>
            </a:r>
            <a:r>
              <a:rPr b="1" i="0" lang="en-US" sz="33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T</a:t>
            </a:r>
            <a:r>
              <a:rPr i="0" lang="en-US" sz="33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recere la </a:t>
            </a:r>
            <a:r>
              <a:rPr lang="en-US" sz="3300">
                <a:latin typeface="Space Mono"/>
                <a:ea typeface="Space Mono"/>
                <a:cs typeface="Space Mono"/>
                <a:sym typeface="Space Mono"/>
              </a:rPr>
              <a:t>Unet 3d si modificarea retelei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85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Plan de implementare: </a:t>
            </a:r>
            <a:r>
              <a:rPr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Modificarea clasei DenoiseNet pentru a trece la o arhitectura 3d si a creste numarul de straturi</a:t>
            </a:r>
            <a:endParaRPr sz="3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-360850" lvl="1" marL="73403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•"/>
            </a:pPr>
            <a:r>
              <a:rPr b="1" i="0" lang="en-US" sz="3300" u="none" cap="none" strike="noStrike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Obiectivele finale: </a:t>
            </a:r>
            <a:endParaRPr b="1" i="0" sz="3300" u="none" cap="none" strike="noStrike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</a:t>
            </a:r>
            <a:r>
              <a:rPr b="1"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aximizarea SNR-ului:</a:t>
            </a:r>
            <a:r>
              <a:rPr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Depășirea pragului actual de 43.51 dB prin reducerea zgomotului rezidual care nu a putut fi eliminat prin procesare exclusiv spațială (2D).</a:t>
            </a:r>
            <a:endParaRPr sz="3300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91440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Consistență Temporală:</a:t>
            </a:r>
            <a:r>
              <a:rPr lang="en-US" sz="33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 Eliminarea fluctuațiilor de zgomot dintre cadre (flickering), rezultând in imagini care păstrează dinamica naturală a semnalului de calciu</a:t>
            </a:r>
            <a:endParaRPr sz="3300"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marR="0" rtl="0" algn="just">
              <a:lnSpc>
                <a:spcPct val="22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43200" y="0"/>
            <a:ext cx="2783240" cy="87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